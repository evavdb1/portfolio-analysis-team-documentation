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21.xml" ContentType="application/vnd.openxmlformats-officedocument.presentationml.notesSlide+xml"/>
  <Override PartName="/ppt/notesSlides/_rels/notesSlide21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nl-BE" sz="2000" spc="-1" strike="noStrike">
                <a:latin typeface="Arial"/>
              </a:rPr>
              <a:t>Click to edit the notes' format</a:t>
            </a:r>
            <a:endParaRPr b="0" lang="nl-BE" sz="20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nl-BE" sz="1400" spc="-1" strike="noStrike">
                <a:latin typeface="Times New Roman"/>
              </a:rPr>
              <a:t>&lt;header&gt;</a:t>
            </a:r>
            <a:endParaRPr b="0" lang="nl-BE" sz="1400" spc="-1" strike="noStrike">
              <a:latin typeface="Times New Roman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dt" idx="1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nl-BE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nl-BE" sz="1400" spc="-1" strike="noStrike">
                <a:latin typeface="Times New Roman"/>
              </a:rPr>
              <a:t>&lt;date/time&gt;</a:t>
            </a:r>
            <a:endParaRPr b="0" lang="nl-BE" sz="1400" spc="-1" strike="noStrike">
              <a:latin typeface="Times New Roman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 type="ftr" idx="1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nl-BE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nl-BE" sz="1400" spc="-1" strike="noStrike">
                <a:latin typeface="Times New Roman"/>
              </a:rPr>
              <a:t>&lt;footer&gt;</a:t>
            </a:r>
            <a:endParaRPr b="0" lang="nl-BE" sz="1400" spc="-1" strike="noStrike">
              <a:latin typeface="Times New Roman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 type="sldNum" idx="1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nl-BE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fld id="{49A8ED27-918A-4877-93B6-F34E27215282}" type="slidenum">
              <a:rPr b="0" lang="nl-BE" sz="1400" spc="-1" strike="noStrike">
                <a:latin typeface="Times New Roman"/>
              </a:rPr>
              <a:t>&lt;number&gt;</a:t>
            </a:fld>
            <a:endParaRPr b="0" lang="nl-BE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nl-BE" sz="2000" spc="-1" strike="noStrike"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A1C89C-AA09-4D4A-9A73-246D7179C97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nl-BE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6D1242-D249-4C73-AD67-69CD686127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nl-BE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A589A5-ED11-4BFD-A184-8F81C65FF8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D8DBF2-0A8E-4330-896E-317FBADD08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2FE33E-891A-48A3-AB49-0D45AB68AB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93021A-188E-4D49-99E5-76C890BDA7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nl-BE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99E3B9-B0FA-4547-97E5-A2BC6E3F1D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24155D-BD62-406A-92A5-419428CECF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72735E-FA77-4D62-ABA4-CD79A1A6F2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D77D19-BB2A-4C1D-B868-41C7A76118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582FCD-8A89-435E-BAF4-6C806FAA56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73B2F5-D401-478B-B009-26F0F33FE9F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0E523E-E4C9-4119-B5D8-17FC90F0EB2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481A65-C8FF-4625-A836-B9F01FB239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nl-BE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01930D-1FD2-4EEA-9ABF-698E019B36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E4C3D3-9619-4DD9-BDA2-410FB14A68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BDEF22-D945-4A78-908A-A46E562046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07E78E-1240-4B91-80EC-4E154B8619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nl-BE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77FD55-C214-4F96-89B0-D5B8C22FEB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BDB069-C367-4862-9612-5AA0E21FA4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98A8E9-AD0D-4808-9E05-A14B4BD570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362D1E-56F6-46CA-B3B7-AC2EEB62FC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8EBECA-0198-496A-B25A-273C15D607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B9E577-D4B6-4967-89F5-60E59D68EA8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9D167B-4CD3-4D41-8134-9BEC8B9C33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8C7187F-2AFF-490C-8862-74527BD281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nl-BE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923A0A4-5402-4142-B7D7-00D3B5F643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11BA2EF-369D-4903-A02B-C046BFD51E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9DD8C75-971F-402C-9F94-18C617B21B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3291271-80B7-464E-8DE7-A5B16F3D71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nl-BE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29FBBF7-8145-4602-8900-9A504CFC5E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3869ACA-D3D6-4129-A3CA-7F3EF44272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6C03129-BC7F-4B51-8D39-1120882882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3F1DA15-D2BC-4095-82A6-9329E1B9C7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D95FB03-4425-4E91-B0DF-DC536E998F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116A2A2-0AFB-468F-8163-FB90A53EE52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0F819BA-56F8-46A9-B81B-089F06FF494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9F52005-3BAD-4BB6-BC71-E505A9AF0E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nl-BE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5CF2127-DF8A-45D0-8740-3468651F40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7526089-57EC-4D42-B2E5-A58A4677FB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5E3825B-B6CA-46E6-9EB7-CBB5A89027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4BE3A44-F30D-4E42-9D8E-393FA1EBEB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nl-BE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DBE0E98-62AF-4303-9298-3B530FA1CD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91A2990-28E8-41D2-997D-CC109DD56D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2404183-2386-4C9D-8AFE-91D2D6B436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7FF1E4C-27EA-41A6-BEA9-4D9B073C41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BD2D454-AC05-42A4-AE70-13505CA3ED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4CB203B-571A-4DA3-A180-77A76BB34D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00EE4E6-11C2-4992-9ECD-B63D136CCF6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C1827FA-8743-4DD2-BDF0-015E496F88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nl-BE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7735690-B18E-4C88-9B6A-BFBCF58D88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CD254CA-23C8-4262-A7FC-96D6F55BA5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C19D3B4-A105-496A-B8A0-262FFC6981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59D19AA-5993-404C-88E0-A8D0F47CC0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nl-BE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2C09143-BB20-4030-A002-32A118339C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7808BA9-4944-4724-A0D2-1B31653E9E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68A7B62-DD71-4C56-8308-C2FDDB0070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AC562E5-5B65-4D08-9E7E-9358BF455F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15D629B-CB50-4FC3-87DD-1B3FC5FAAE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B3244A0-61D5-4153-9763-053E604B5A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41DABEB-843B-45A9-8C8A-0CA59A48D7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6"/>
          <p:cNvSpPr/>
          <p:nvPr/>
        </p:nvSpPr>
        <p:spPr>
          <a:xfrm>
            <a:off x="-9000" y="5213880"/>
            <a:ext cx="8389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Calibri"/>
              </a:rPr>
              <a:t>This presentation uses a free template provided by FPPT.com</a:t>
            </a:r>
            <a:endParaRPr b="0" lang="nl-BE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Calibri"/>
              </a:rPr>
              <a:t>www.free-power-point-templates.com</a:t>
            </a:r>
            <a:endParaRPr b="0" lang="nl-BE" sz="1400" spc="-1" strike="noStrike"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734040" y="2418840"/>
            <a:ext cx="7989480" cy="1644120"/>
          </a:xfrm>
          <a:prstGeom prst="rect">
            <a:avLst/>
          </a:prstGeom>
          <a:noFill/>
          <a:ln w="0">
            <a:noFill/>
          </a:ln>
          <a:effectLst>
            <a:outerShdw dist="37674" dir="2700000" blurRad="50760" rotWithShape="0">
              <a:srgbClr val="000000">
                <a:alpha val="40000"/>
              </a:srgbClr>
            </a:outerShdw>
          </a:effectLst>
        </p:spPr>
        <p:txBody>
          <a:bodyPr anchor="ctr">
            <a:normAutofit/>
          </a:bodyPr>
          <a:p>
            <a:pPr indent="0" algn="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ffffff"/>
                </a:solidFill>
                <a:latin typeface="Calibri"/>
              </a:rPr>
              <a:t>Click to edit </a:t>
            </a:r>
            <a:br>
              <a:rPr sz="3600"/>
            </a:br>
            <a:r>
              <a:rPr b="0" lang="en-US" sz="3600" spc="-1" strike="noStrike">
                <a:solidFill>
                  <a:srgbClr val="ffffff"/>
                </a:solidFill>
                <a:latin typeface="Calibri"/>
              </a:rPr>
              <a:t>Master title style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nl-BE" sz="12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nl-BE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nl-BE" sz="1400" spc="-1" strike="noStrike">
                <a:latin typeface="Times New Roman"/>
              </a:rPr>
              <a:t>&lt;footer&gt;</a:t>
            </a:r>
            <a:endParaRPr b="0" lang="nl-BE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86EE65-D667-4155-B46A-DC4C09A3542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nl-BE" sz="12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6"/>
          <p:cNvSpPr/>
          <p:nvPr/>
        </p:nvSpPr>
        <p:spPr>
          <a:xfrm>
            <a:off x="-9000" y="5213880"/>
            <a:ext cx="8389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Calibri"/>
              </a:rPr>
              <a:t>This presentation uses a free template provided by FPPT.com</a:t>
            </a:r>
            <a:endParaRPr b="0" lang="nl-BE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Calibri"/>
              </a:rPr>
              <a:t>www.free-power-point-templates.com</a:t>
            </a:r>
            <a:endParaRPr b="0" lang="nl-BE" sz="1400" spc="-1" strike="noStrike"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34160" y="364320"/>
            <a:ext cx="8245800" cy="763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26960" y="1378800"/>
            <a:ext cx="8245800" cy="3421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nl-BE" sz="1200" spc="-1" strike="noStrike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nl-BE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nl-BE" sz="1400" spc="-1" strike="noStrike">
                <a:latin typeface="Times New Roman"/>
              </a:rPr>
              <a:t>&lt;footer&gt;</a:t>
            </a:r>
            <a:endParaRPr b="0" lang="nl-BE" sz="1400" spc="-1" strike="noStrike"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C54677-6DEB-4431-871C-DB8373B46BC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nl-BE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6"/>
          <p:cNvSpPr/>
          <p:nvPr/>
        </p:nvSpPr>
        <p:spPr>
          <a:xfrm>
            <a:off x="-9000" y="5213880"/>
            <a:ext cx="8389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Calibri"/>
              </a:rPr>
              <a:t>This presentation uses a free template provided by FPPT.com</a:t>
            </a:r>
            <a:endParaRPr b="0" lang="nl-BE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Calibri"/>
              </a:rPr>
              <a:t>www.free-power-point-templates.com</a:t>
            </a:r>
            <a:endParaRPr b="0" lang="nl-BE" sz="1400" spc="-1" strike="noStrike"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974600" y="465480"/>
            <a:ext cx="67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7033"/>
                </a:solidFill>
                <a:latin typeface="Calibri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1974600" y="1229040"/>
            <a:ext cx="670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nl-BE" sz="1200" spc="-1" strike="noStrike"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nl-BE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nl-BE" sz="1400" spc="-1" strike="noStrike">
                <a:latin typeface="Times New Roman"/>
              </a:rPr>
              <a:t>&lt;footer&gt;</a:t>
            </a:r>
            <a:endParaRPr b="0" lang="nl-BE" sz="1400" spc="-1" strike="noStrike"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2A3E08-BE90-4F42-A42E-0F386E57321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nl-BE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6"/>
          <p:cNvSpPr/>
          <p:nvPr/>
        </p:nvSpPr>
        <p:spPr>
          <a:xfrm>
            <a:off x="-9000" y="5213880"/>
            <a:ext cx="8389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Calibri"/>
              </a:rPr>
              <a:t>This presentation uses a free template provided by FPPT.com</a:t>
            </a:r>
            <a:endParaRPr b="0" lang="nl-BE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Calibri"/>
              </a:rPr>
              <a:t>www.free-power-point-templates.com</a:t>
            </a:r>
            <a:endParaRPr b="0" lang="nl-BE" sz="1400" spc="-1" strike="noStrike"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40000" y="279000"/>
            <a:ext cx="8093160" cy="763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36760" y="159660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marL="432000" indent="-324000" algn="ctr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536760" y="2068920"/>
            <a:ext cx="4039920" cy="227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algn="ctr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 algn="ctr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 algn="ctr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 algn="ctr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Char char="»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4572000" y="159660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4572000" y="2068920"/>
            <a:ext cx="4041360" cy="227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ctr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algn="ctr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 algn="ctr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 algn="ctr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Char char="–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 algn="ctr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Char char="»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nl-BE" sz="1200" spc="-1" strike="noStrike">
              <a:latin typeface="Times New Roman"/>
            </a:endParaRPr>
          </a:p>
        </p:txBody>
      </p:sp>
      <p:sp>
        <p:nvSpPr>
          <p:cNvPr id="133" name="PlaceHolder 7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nl-BE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nl-BE" sz="1400" spc="-1" strike="noStrike">
                <a:latin typeface="Times New Roman"/>
              </a:rPr>
              <a:t>&lt;footer&gt;</a:t>
            </a:r>
            <a:endParaRPr b="0" lang="nl-BE" sz="1400" spc="-1" strike="noStrike">
              <a:latin typeface="Times New Roman"/>
            </a:endParaRPr>
          </a:p>
        </p:txBody>
      </p:sp>
      <p:sp>
        <p:nvSpPr>
          <p:cNvPr id="134" name="PlaceHolder 8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49A264-59F1-4905-BDD0-A56638638FF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nl-BE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6"/>
          <p:cNvSpPr/>
          <p:nvPr/>
        </p:nvSpPr>
        <p:spPr>
          <a:xfrm>
            <a:off x="-9000" y="5213880"/>
            <a:ext cx="8389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Calibri"/>
              </a:rPr>
              <a:t>This presentation uses a free template provided by FPPT.com</a:t>
            </a:r>
            <a:endParaRPr b="0" lang="nl-BE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a6a6a6"/>
                </a:solidFill>
                <a:latin typeface="Calibri"/>
              </a:rPr>
              <a:t>www.free-power-point-templates.com</a:t>
            </a:r>
            <a:endParaRPr b="0" lang="nl-BE" sz="1400" spc="-1" strike="noStrike">
              <a:latin typeface="Arial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nl-BE" sz="1200" spc="-1" strike="noStrike">
              <a:latin typeface="Times New Roman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nl-BE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nl-BE" sz="1400" spc="-1" strike="noStrike">
                <a:latin typeface="Times New Roman"/>
              </a:rPr>
              <a:t>&lt;footer&gt;</a:t>
            </a:r>
            <a:endParaRPr b="0" lang="nl-BE" sz="1400" spc="-1" strike="noStrike">
              <a:latin typeface="Times New Roman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D680A4-D091-4387-9805-CEB6A9B84DA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nl-BE" sz="1200" spc="-1" strike="noStrike">
              <a:latin typeface="Times New Roman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36680" y="2700000"/>
            <a:ext cx="8203320" cy="1364040"/>
          </a:xfrm>
          <a:prstGeom prst="rect">
            <a:avLst/>
          </a:prstGeom>
          <a:noFill/>
          <a:ln w="0">
            <a:noFill/>
          </a:ln>
          <a:effectLst>
            <a:outerShdw dist="37674" dir="2700000" blurRad="50760" rotWithShape="0">
              <a:srgbClr val="000000">
                <a:alpha val="40000"/>
              </a:srgbClr>
            </a:outerShdw>
          </a:effectLst>
        </p:spPr>
        <p:txBody>
          <a:bodyPr anchor="ctr">
            <a:normAutofit/>
          </a:bodyPr>
          <a:p>
            <a:pPr indent="0" algn="r">
              <a:lnSpc>
                <a:spcPct val="100000"/>
              </a:lnSpc>
              <a:buNone/>
            </a:pPr>
            <a:r>
              <a:rPr b="0" lang="en-US" sz="5000" spc="-1" strike="noStrike">
                <a:solidFill>
                  <a:srgbClr val="ffffff"/>
                </a:solidFill>
                <a:latin typeface="Calibri"/>
              </a:rPr>
              <a:t>BLOG CENTRAL</a:t>
            </a:r>
            <a:endParaRPr b="0" lang="en-US" sz="5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34160" y="364320"/>
            <a:ext cx="8245800" cy="763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ffffff"/>
                </a:solidFill>
                <a:latin typeface="Calibri"/>
              </a:rPr>
              <a:t>BACKEND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426960" y="1378800"/>
            <a:ext cx="8245800" cy="3421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/>
          </p:nvPr>
        </p:nvSpPr>
        <p:spPr>
          <a:xfrm>
            <a:off x="2115720" y="1349280"/>
            <a:ext cx="670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full-featured blog, built using Spring Boot &amp; Spring Security (JWT).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REST API where users can create blogposts, comment, like posts, and manage their profiles.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342000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BUILT BY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3240000" y="1349280"/>
            <a:ext cx="454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* CHAÏMA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Product Owner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* TAMARA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Scrum Master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* VIKTORIIA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Developer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* EVA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Developer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3375720" y="288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2596320" y="900000"/>
            <a:ext cx="6223680" cy="41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nl-BE" sz="1800" spc="-1" strike="noStrike">
                <a:latin typeface="Arial"/>
              </a:rPr>
              <a:t>Java 17+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Spring Boot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Spring Security (JWT)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Spring Data JPA / Hibernate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MySQL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Maven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Postman (API testing)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Stateless authenticatie met JWT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Paswoorden geëncodeerd met BCrypt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Rollen: USER, ADMIN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Autorisatie doorgedreven naar endpoint level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JWT gebruikt username (rollen uit DB opgehaald)</a:t>
            </a:r>
            <a:endParaRPr b="0" lang="nl-BE" sz="1800" spc="-1" strike="noStrike"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title"/>
          </p:nvPr>
        </p:nvSpPr>
        <p:spPr>
          <a:xfrm>
            <a:off x="342036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Tech 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title"/>
          </p:nvPr>
        </p:nvSpPr>
        <p:spPr>
          <a:xfrm>
            <a:off x="3420000" y="288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Security 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3375720" y="288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2596320" y="900000"/>
            <a:ext cx="6223680" cy="41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1" i="1" lang="nl-BE" sz="1800" spc="-1" strike="noStrike">
                <a:latin typeface="Arial"/>
              </a:rPr>
              <a:t>Trello</a:t>
            </a:r>
            <a:r>
              <a:rPr b="0" lang="nl-BE" sz="1800" spc="-1" strike="noStrike">
                <a:latin typeface="Arial"/>
              </a:rPr>
              <a:t> – overzicht taken en werkverdeling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1" i="1" lang="nl-BE" sz="1800" spc="-1" strike="noStrike">
                <a:latin typeface="Arial"/>
              </a:rPr>
              <a:t>Microsoft Teams</a:t>
            </a:r>
            <a:r>
              <a:rPr b="0" lang="nl-BE" sz="1800" spc="-1" strike="noStrike">
                <a:latin typeface="Arial"/>
              </a:rPr>
              <a:t> – chatkanaal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1" i="1" lang="nl-BE" sz="1800" spc="-1" strike="noStrike">
                <a:latin typeface="Arial"/>
              </a:rPr>
              <a:t>Github</a:t>
            </a:r>
            <a:r>
              <a:rPr b="0" lang="nl-BE" sz="1800" spc="-1" strike="noStrike">
                <a:latin typeface="Arial"/>
              </a:rPr>
              <a:t> – delen code, via branches, en documentatie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1" i="1" lang="nl-BE" sz="1800" spc="-1" strike="noStrike">
                <a:latin typeface="Arial"/>
              </a:rPr>
              <a:t>Intellij IDEA</a:t>
            </a:r>
            <a:r>
              <a:rPr b="0" lang="nl-BE" sz="1800" spc="-1" strike="noStrike">
                <a:latin typeface="Arial"/>
              </a:rPr>
              <a:t> – Integrated Development Environment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1" i="1" lang="nl-BE" sz="1800" spc="-1" strike="noStrike">
                <a:latin typeface="Arial"/>
              </a:rPr>
              <a:t>ChatGTP</a:t>
            </a:r>
            <a:r>
              <a:rPr b="0" lang="nl-BE" sz="1800" spc="-1" strike="noStrike">
                <a:latin typeface="Arial"/>
              </a:rPr>
              <a:t> – onderzoek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title"/>
          </p:nvPr>
        </p:nvSpPr>
        <p:spPr>
          <a:xfrm>
            <a:off x="342036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Communicatie &amp; Planning 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3420000" y="360000"/>
            <a:ext cx="432000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ANALYSE – sequence diagram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3240000" y="1349280"/>
            <a:ext cx="454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342000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ANALYSE – flow chart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3240000" y="1349280"/>
            <a:ext cx="454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342000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ANALYSE – class diagram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3240000" y="1349280"/>
            <a:ext cx="454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3420000" y="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FINAL – project structure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3240000" y="1349280"/>
            <a:ext cx="454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2520000" y="674280"/>
            <a:ext cx="6120000" cy="4185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nl-BE" sz="1200" spc="-1" strike="noStrike">
                <a:latin typeface="Arial"/>
              </a:rPr>
              <a:t>BlogCentralProject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├── </a:t>
            </a:r>
            <a:r>
              <a:rPr b="0" lang="nl-BE" sz="1200" spc="-1" strike="noStrike">
                <a:latin typeface="Arial"/>
              </a:rPr>
              <a:t>documentation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├── </a:t>
            </a:r>
            <a:r>
              <a:rPr b="0" lang="nl-BE" sz="1200" spc="-1" strike="noStrike">
                <a:latin typeface="Arial"/>
              </a:rPr>
              <a:t>analyse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└── </a:t>
            </a:r>
            <a:r>
              <a:rPr b="0" lang="nl-BE" sz="1200" spc="-1" strike="noStrike">
                <a:latin typeface="Arial"/>
              </a:rPr>
              <a:t>postman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├── </a:t>
            </a:r>
            <a:r>
              <a:rPr b="0" lang="nl-BE" sz="1200" spc="-1" strike="noStrike">
                <a:latin typeface="Arial"/>
              </a:rPr>
              <a:t>src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├── </a:t>
            </a:r>
            <a:r>
              <a:rPr b="0" lang="nl-BE" sz="1200" spc="-1" strike="noStrike">
                <a:latin typeface="Arial"/>
              </a:rPr>
              <a:t>main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├── </a:t>
            </a:r>
            <a:r>
              <a:rPr b="0" lang="nl-BE" sz="1200" spc="-1" strike="noStrike">
                <a:latin typeface="Arial"/>
              </a:rPr>
              <a:t>java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│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└── </a:t>
            </a:r>
            <a:r>
              <a:rPr b="0" lang="nl-BE" sz="1200" spc="-1" strike="noStrike">
                <a:latin typeface="Arial"/>
              </a:rPr>
              <a:t>org.intecbrussel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│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├── </a:t>
            </a:r>
            <a:r>
              <a:rPr b="0" lang="nl-BE" sz="1200" spc="-1" strike="noStrike">
                <a:latin typeface="Arial"/>
              </a:rPr>
              <a:t>BlogCentralProjectApplication.java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│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├── </a:t>
            </a:r>
            <a:r>
              <a:rPr b="0" lang="nl-BE" sz="1200" spc="-1" strike="noStrike">
                <a:latin typeface="Arial"/>
              </a:rPr>
              <a:t>controller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│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├── </a:t>
            </a:r>
            <a:r>
              <a:rPr b="0" lang="nl-BE" sz="1200" spc="-1" strike="noStrike">
                <a:latin typeface="Arial"/>
              </a:rPr>
              <a:t>service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│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├── </a:t>
            </a:r>
            <a:r>
              <a:rPr b="0" lang="nl-BE" sz="1200" spc="-1" strike="noStrike">
                <a:latin typeface="Arial"/>
              </a:rPr>
              <a:t>repository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│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├── </a:t>
            </a:r>
            <a:r>
              <a:rPr b="0" lang="nl-BE" sz="1200" spc="-1" strike="noStrike">
                <a:latin typeface="Arial"/>
              </a:rPr>
              <a:t>model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│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├── </a:t>
            </a:r>
            <a:r>
              <a:rPr b="0" lang="nl-BE" sz="1200" spc="-1" strike="noStrike">
                <a:latin typeface="Arial"/>
              </a:rPr>
              <a:t>dto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│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├── </a:t>
            </a:r>
            <a:r>
              <a:rPr b="0" lang="nl-BE" sz="1200" spc="-1" strike="noStrike">
                <a:latin typeface="Arial"/>
              </a:rPr>
              <a:t>security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│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├── </a:t>
            </a:r>
            <a:r>
              <a:rPr b="0" lang="nl-BE" sz="1200" spc="-1" strike="noStrike">
                <a:latin typeface="Arial"/>
              </a:rPr>
              <a:t>exception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│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├── </a:t>
            </a:r>
            <a:r>
              <a:rPr b="0" lang="nl-BE" sz="1200" spc="-1" strike="noStrike">
                <a:latin typeface="Arial"/>
              </a:rPr>
              <a:t>mapper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│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└── </a:t>
            </a:r>
            <a:r>
              <a:rPr b="0" lang="nl-BE" sz="1200" spc="-1" strike="noStrike">
                <a:latin typeface="Arial"/>
              </a:rPr>
              <a:t>stats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└── </a:t>
            </a:r>
            <a:r>
              <a:rPr b="0" lang="nl-BE" sz="1200" spc="-1" strike="noStrike">
                <a:latin typeface="Arial"/>
              </a:rPr>
              <a:t>resources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│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└── </a:t>
            </a:r>
            <a:r>
              <a:rPr b="0" lang="nl-BE" sz="1200" spc="-1" strike="noStrike">
                <a:latin typeface="Arial"/>
              </a:rPr>
              <a:t>application.properties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└── </a:t>
            </a:r>
            <a:r>
              <a:rPr b="0" lang="nl-BE" sz="1200" spc="-1" strike="noStrike">
                <a:latin typeface="Arial"/>
              </a:rPr>
              <a:t>test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            └── </a:t>
            </a:r>
            <a:r>
              <a:rPr b="0" lang="nl-BE" sz="1200" spc="-1" strike="noStrike">
                <a:latin typeface="Arial"/>
              </a:rPr>
              <a:t>java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│ </a:t>
            </a:r>
            <a:r>
              <a:rPr b="0" lang="nl-BE" sz="1200" spc="-1" strike="noStrike">
                <a:latin typeface="Arial"/>
              </a:rPr>
              <a:t>	</a:t>
            </a:r>
            <a:r>
              <a:rPr b="0" lang="nl-BE" sz="1200" spc="-1" strike="noStrike">
                <a:latin typeface="Arial"/>
              </a:rPr>
              <a:t>└── </a:t>
            </a:r>
            <a:r>
              <a:rPr b="0" lang="nl-BE" sz="1200" spc="-1" strike="noStrike">
                <a:latin typeface="Arial"/>
              </a:rPr>
              <a:t>org.intecbrussel </a:t>
            </a:r>
            <a:endParaRPr b="0" lang="nl-BE" sz="1200" spc="-1" strike="noStrike">
              <a:latin typeface="Arial"/>
            </a:endParaRPr>
          </a:p>
          <a:p>
            <a:r>
              <a:rPr b="0" lang="nl-BE" sz="1200" spc="-1" strike="noStrike">
                <a:latin typeface="Arial"/>
              </a:rPr>
              <a:t>└── </a:t>
            </a:r>
            <a:r>
              <a:rPr b="0" lang="nl-BE" sz="1200" spc="-1" strike="noStrike">
                <a:latin typeface="Arial"/>
              </a:rPr>
              <a:t>pom.xml</a:t>
            </a:r>
            <a:endParaRPr b="0" lang="nl-BE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342000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FEATURES 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3240000" y="1349280"/>
            <a:ext cx="454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2340000" y="1062000"/>
            <a:ext cx="6300000" cy="408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nl-BE" sz="1800" spc="-1" strike="noStrike">
                <a:latin typeface="Arial"/>
              </a:rPr>
              <a:t>USER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Register a new user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Login and receive JWT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View own profile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Update own profile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Delete own account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BLOG POST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Create a blog post (authenticated)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View all blog posts (public, paginated)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View single blog post with embedded comments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Update blog post (author only)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Delete blog post (author only)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Like a blog post (authenticated)</a:t>
            </a:r>
            <a:endParaRPr b="0" lang="nl-BE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342000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FEATURES 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3240000" y="1349280"/>
            <a:ext cx="454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340000" y="1080000"/>
            <a:ext cx="6660000" cy="403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nl-BE" sz="1800" spc="-1" strike="noStrike">
                <a:latin typeface="Arial"/>
              </a:rPr>
              <a:t>COMMENT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Add comment to a blog post (authenticated)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Edit own comment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Delete own comment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Blog post author may moderate (delete) comments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Comments are embedded in blog post responses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SEARCH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Global search across: Blog posts, Users, Case-insensitive, </a:t>
            </a:r>
            <a:r>
              <a:rPr b="0" lang="nl-BE" sz="1800" spc="-1" strike="noStrike">
                <a:latin typeface="Arial"/>
              </a:rPr>
              <a:t>	</a:t>
            </a:r>
            <a:r>
              <a:rPr b="0" lang="nl-BE" sz="1800" spc="-1" strike="noStrike">
                <a:latin typeface="Arial"/>
              </a:rPr>
              <a:t>  </a:t>
            </a:r>
            <a:r>
              <a:rPr b="0" lang="nl-BE" sz="1800" spc="-1" strike="noStrike">
                <a:latin typeface="Arial"/>
              </a:rPr>
              <a:t>	</a:t>
            </a:r>
            <a:r>
              <a:rPr b="0" lang="nl-BE" sz="1800" spc="-1" strike="noStrike">
                <a:latin typeface="Arial"/>
              </a:rPr>
              <a:t>Paginated results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STATISTICS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Online users (JWT-based)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Total visitors (unique logins since startup)</a:t>
            </a:r>
            <a:endParaRPr b="0" lang="nl-BE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342000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POSTMAN (API testing)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2224800" y="1349280"/>
            <a:ext cx="515520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nl-BE" sz="1800" spc="-1" strike="noStrike">
                <a:latin typeface="Arial"/>
              </a:rPr>
              <a:t>Token toevoegen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	</a:t>
            </a:r>
            <a:r>
              <a:rPr b="0" lang="nl-BE" sz="1800" spc="-1" strike="noStrike">
                <a:latin typeface="Arial"/>
              </a:rPr>
              <a:t>Authorization: Bearer &lt;token&gt;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342000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ENDPOINTS - USER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3240000" y="1349280"/>
            <a:ext cx="454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2340000" y="1440000"/>
            <a:ext cx="6282000" cy="30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nl-BE" sz="1800" spc="-1" strike="noStrike">
                <a:latin typeface="Arial"/>
              </a:rPr>
              <a:t> </a:t>
            </a:r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 </a:t>
            </a:r>
            <a:r>
              <a:rPr b="0" lang="nl-BE" sz="1800" spc="-1" strike="noStrike">
                <a:latin typeface="Arial"/>
              </a:rPr>
              <a:t>POST /api/users/register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 </a:t>
            </a:r>
            <a:r>
              <a:rPr b="0" lang="nl-BE" sz="1800" spc="-1" strike="noStrike">
                <a:latin typeface="Arial"/>
              </a:rPr>
              <a:t>POST /api/auth/login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 </a:t>
            </a:r>
            <a:r>
              <a:rPr b="0" lang="nl-BE" sz="1800" spc="-1" strike="noStrike">
                <a:latin typeface="Arial"/>
              </a:rPr>
              <a:t>GET /api/users/{id}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 </a:t>
            </a:r>
            <a:r>
              <a:rPr b="0" lang="nl-BE" sz="1800" spc="-1" strike="noStrike">
                <a:latin typeface="Arial"/>
              </a:rPr>
              <a:t>PUT /api/users/{id}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 </a:t>
            </a:r>
            <a:r>
              <a:rPr b="0" lang="nl-BE" sz="1800" spc="-1" strike="noStrike">
                <a:latin typeface="Arial"/>
              </a:rPr>
              <a:t>DELETE /api/users/{id}</a:t>
            </a:r>
            <a:endParaRPr b="0" lang="nl-BE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342000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ENDPOINTS - BLOGPOST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3240000" y="1349280"/>
            <a:ext cx="454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351880" y="1265040"/>
            <a:ext cx="6648120" cy="3594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GET /api/blogposts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GET /api/blogposts/{postId}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POST /api/blogposts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PUT /api/blogposts/{postId}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DELETE /api/blogposts/{postId}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POST /api/blogposts/{postId}/like</a:t>
            </a:r>
            <a:endParaRPr b="0" lang="nl-BE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342000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ENDPOINTS - COMMENT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3240000" y="1349280"/>
            <a:ext cx="454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2340000" y="1440000"/>
            <a:ext cx="5235120" cy="32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POST /api/blogposts/{postId}/comments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PUT /api/comments/{commentId}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DELETE /api/comments/{commentId}</a:t>
            </a:r>
            <a:endParaRPr b="0" lang="nl-BE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55572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ENDPOINTS - SEARCH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3240000" y="1349280"/>
            <a:ext cx="4544280" cy="63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title"/>
          </p:nvPr>
        </p:nvSpPr>
        <p:spPr>
          <a:xfrm>
            <a:off x="3555720" y="21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ENDPOINTS - STATISTICS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2340000" y="1080000"/>
            <a:ext cx="523512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GET /api/search?x=keyword</a:t>
            </a:r>
            <a:endParaRPr b="0" lang="nl-BE" sz="1800" spc="-1" strike="noStrike"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2340000" y="3060000"/>
            <a:ext cx="539028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nl-BE" sz="1800" spc="-1" strike="noStrike">
                <a:latin typeface="Arial"/>
              </a:rPr>
              <a:t>GET /api/stats/online 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GET /api/stats/visitors</a:t>
            </a:r>
            <a:endParaRPr b="0" lang="nl-BE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434160" y="364320"/>
            <a:ext cx="8245800" cy="763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ffffff"/>
                </a:solidFill>
                <a:latin typeface="Calibri"/>
              </a:rPr>
              <a:t>FRONTEND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426960" y="1378800"/>
            <a:ext cx="8245800" cy="3421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3420000" y="360000"/>
            <a:ext cx="4004280" cy="72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>
              <a:buNone/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title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3240000" y="1349280"/>
            <a:ext cx="4544280" cy="351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2340000" y="1440000"/>
            <a:ext cx="5235120" cy="32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nl-BE" sz="1800" spc="-1" strike="noStrike">
              <a:latin typeface="Arial"/>
            </a:endParaRPr>
          </a:p>
          <a:p>
            <a:r>
              <a:rPr b="0" lang="nl-BE" sz="1800" spc="-1" strike="noStrike">
                <a:latin typeface="Arial"/>
              </a:rPr>
              <a:t>Text</a:t>
            </a:r>
            <a:endParaRPr b="0" lang="nl-BE" sz="1800" spc="-1" strike="noStrike">
              <a:latin typeface="Arial"/>
            </a:endParaRPr>
          </a:p>
          <a:p>
            <a:endParaRPr b="0" lang="nl-BE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46840" y="360000"/>
            <a:ext cx="8093160" cy="763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indent="0" algn="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ffffff"/>
                </a:solidFill>
                <a:latin typeface="Calibri"/>
              </a:rPr>
              <a:t>title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536760" y="159660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536760" y="2068920"/>
            <a:ext cx="4039920" cy="227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4572000" y="158940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/>
          </p:nvPr>
        </p:nvSpPr>
        <p:spPr>
          <a:xfrm>
            <a:off x="4572000" y="2076120"/>
            <a:ext cx="4041360" cy="227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Application>LibreOffice/7.4.0.3$Windows_X86_64 LibreOffice_project/f85e47c08ddd19c015c0114a68350214f7066f5a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2017-08-01T15:40:51Z</dcterms:created>
  <dc:creator/>
  <dc:description/>
  <dc:language>en-GB</dc:language>
  <cp:lastModifiedBy/>
  <dcterms:modified xsi:type="dcterms:W3CDTF">2025-12-15T15:21:09Z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(16:9)</vt:lpwstr>
  </property>
  <property fmtid="{D5CDD505-2E9C-101B-9397-08002B2CF9AE}" pid="4" name="Slides">
    <vt:r8>5</vt:r8>
  </property>
</Properties>
</file>